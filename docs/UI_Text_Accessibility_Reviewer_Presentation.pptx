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1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1d201c20-0bfb-e29c-d955-452328d0e8f2}">
          <p14:sldIdLst>
            <p14:sldId id="256"/>
            <p14:sldId id="257"/>
            <p14:sldId id="258"/>
          </p14:sldIdLst>
        </p14:section>
        <p14:section name="Design" id="{6c40841d-95e7-1ff2-fddb-1b05d3a302bc}">
          <p14:sldIdLst>
            <p14:sldId id="259"/>
            <p14:sldId id="260"/>
            <p14:sldId id="261"/>
            <p14:sldId id="262"/>
          </p14:sldIdLst>
        </p14:section>
        <p14:section name="Implementation" id="{6386d48c-816a-22e6-546f-1eee2cece2a0}">
          <p14:sldIdLst>
            <p14:sldId id="263"/>
            <p14:sldId id="264"/>
            <p14:sldId id="265"/>
            <p14:sldId id="266"/>
            <p14:sldId id="267"/>
          </p14:sldIdLst>
        </p14:section>
        <p14:section name="Results" id="{2155eed4-b3eb-142a-921b-9dda01d430f3}">
          <p14:sldIdLst>
            <p14:sldId id="268"/>
            <p14:sldId id="269"/>
          </p14:sldIdLst>
        </p14:section>
        <p14:section name="Conclusion" id="{e2c7a032-1243-8f7c-68c1-9d828f497cfb}">
          <p14:sldIdLst>
            <p14:sldId id="270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B1F3A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0B1F3A"/>
                </a:solidFill>
                <a:latin typeface="+mn-lt"/>
              </a:rPr>
              <a:t>Overall score of the test inputs (0–100)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Overall score</c:v>
                </c:pt>
              </c:strCache>
            </c:strRef>
          </c:tx>
          <c:spPr>
            <a:solidFill>
              <a:srgbClr val="0E8F8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7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Badly written site</c:v>
                  </c:pt>
                  <c:pt idx="1">
                    <c:v>JavaScript-built app</c:v>
                  </c:pt>
                  <c:pt idx="2">
                    <c:v>Sample screenshot</c:v>
                  </c:pt>
                  <c:pt idx="3">
                    <c:v>Sample text set</c:v>
                  </c:pt>
                  <c:pt idx="4">
                    <c:v>Well written site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40</c:v>
                </c:pt>
                <c:pt idx="1">
                  <c:v>60</c:v>
                </c:pt>
                <c:pt idx="2">
                  <c:v>74</c:v>
                </c:pt>
                <c:pt idx="3">
                  <c:v>82</c:v>
                </c:pt>
                <c:pt idx="4">
                  <c:v>100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B27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7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majorGridlines>
          <c:spPr>
            <a:ln w="9525" cap="flat">
              <a:solidFill>
                <a:srgbClr val="DDE3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F6B7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a web application that proofreads interface text. The two cards show the tool rating a badly written demo site (40, Poor) and a well written one (100, Excellent).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real examples of poor interface text and why each one fails users. Most automated accessibility checkers concentrate on markup, not on the quality of the words.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aim and the four main objectives. The full list of eight objectives is in the report.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Overview: three kinds of input go into one NLP review engine, which produces a score, a prioritised fix list, suggested rewrites and exports.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except the optional headless browser and OCR runs on Flask and the Python standard library, so the core tool works offline.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Reading level uses the two Flesch formulas, contrast uses the WCAG ratio, and the language checks are rule based so that every recommendation can be explained.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ten-step methodology in the report is summarised here as six steps.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Seven modules in a straight pipeline; this matches the architecture diagram in the report.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web interface talks to a Flask server. The server calls the scanner, analyzer or screenshot reviewer, which use the headless browser, the rule base and the OCR engine.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example of each dimension: a vague button, a generic link, a hard-to-read sentence and inconsistent terms.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website mode combines text extraction with page-level accessibility checks. The right-hand images are real output for the badly written demo site.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Used when a site cannot be scanned, or to review a design. Red boxes are serious problems, orange medium, grey minor and green no issues.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results from the built-in test inputs. The scoring separates the badly written site (40) from the well written one (100).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chart uses the real scores from the demo inputs. A larger gap between text and page scores shows that page-level problems like missing alt text matter.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Summarise achievements and honest limitations, then future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7731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UI Text Accessibility Reviewer  ·  Group G07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9FB3C8"/>
                </a:solidFill>
              </a:rPr>
              <a:t>Pune Vidyarthi Griha’s College of Engineering, Technology and Management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EC8C2"/>
                </a:solidFill>
              </a:rPr>
              <a:t>NLP MINI PROJECT  ·  GROUP G07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8016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UI Text Accessibility Reviewer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743200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5DEE8"/>
                </a:solidFill>
              </a:rPr>
              <a:t>A web app that reads the text of a website, screenshot or pasted content and recommends how to make it clear, accessible and consistent.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84048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chemeClr val="bg1"/>
                </a:solidFill>
              </a:rPr>
              <a:t>Haripujan Prasad (2063)  ·  Soham Muley (2065)  ·  Ritika Paradkar (2066)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9FB3C8"/>
                </a:solidFill>
              </a:rPr>
              <a:t>Guide: Prof. Mrs. K. P. Goswami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9FB3C8"/>
                </a:solidFill>
              </a:rPr>
              <a:t>Artificial Intelligence and Data Science  ·  2026-27</a:t>
            </a:r>
            <a:endParaRPr lang="en-US" sz="1200" dirty="0"/>
          </a:p>
        </p:txBody>
      </p:sp>
      <p:pic>
        <p:nvPicPr>
          <p:cNvPr id="7" name="Image 0" descr="Score card of the reviewer showing a score of 40 out of 100, rated Poo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57800" y="1463040"/>
            <a:ext cx="3429000" cy="1323753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pic>
      <p:pic>
        <p:nvPicPr>
          <p:cNvPr id="8" name="Image 1" descr="Score card of the reviewer showing a score of 100 out of 100, rated Excellen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2926080"/>
            <a:ext cx="3429000" cy="1241351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interface text matters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457200" y="1188720"/>
            <a:ext cx="2606040" cy="2331720"/>
          </a:xfrm>
          <a:prstGeom prst="roundRect">
            <a:avLst>
              <a:gd name="adj" fmla="val 3137"/>
            </a:avLst>
          </a:prstGeom>
          <a:solidFill>
            <a:schemeClr val="bg1"/>
          </a:solidFill>
          <a:ln w="9525">
            <a:solidFill>
              <a:srgbClr val="DDE3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Icon circle"/>
          <p:cNvSpPr/>
          <p:nvPr/>
        </p:nvSpPr>
        <p:spPr>
          <a:xfrm>
            <a:off x="640080" y="1371600"/>
            <a:ext cx="502920" cy="50292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5" name="Image 0" descr="Link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5810" y="1497330"/>
            <a:ext cx="251460" cy="2514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196596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“Click here”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88036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Meaningless to a screen-reader user who hears a list of links.</a:t>
            </a:r>
            <a:endParaRPr lang="en-US" sz="1300" dirty="0"/>
          </a:p>
        </p:txBody>
      </p:sp>
      <p:sp>
        <p:nvSpPr>
          <p:cNvPr id="8" name="Card"/>
          <p:cNvSpPr/>
          <p:nvPr/>
        </p:nvSpPr>
        <p:spPr>
          <a:xfrm>
            <a:off x="3246120" y="1188720"/>
            <a:ext cx="2606040" cy="2331720"/>
          </a:xfrm>
          <a:prstGeom prst="roundRect">
            <a:avLst>
              <a:gd name="adj" fmla="val 3137"/>
            </a:avLst>
          </a:prstGeom>
          <a:solidFill>
            <a:schemeClr val="bg1"/>
          </a:solidFill>
          <a:ln w="9525">
            <a:solidFill>
              <a:srgbClr val="DDE3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Icon circle"/>
          <p:cNvSpPr/>
          <p:nvPr/>
        </p:nvSpPr>
        <p:spPr>
          <a:xfrm>
            <a:off x="3429000" y="1371600"/>
            <a:ext cx="502920" cy="50292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10" name="Image 1" descr="Bug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4730" y="1497330"/>
            <a:ext cx="251460" cy="2514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429000" y="196596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“Error 0x80070057: invalid parameter”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3429000" y="288036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 code and jargon, and no hint how to fix it.</a:t>
            </a:r>
            <a:endParaRPr lang="en-US" sz="1300" dirty="0"/>
          </a:p>
        </p:txBody>
      </p:sp>
      <p:sp>
        <p:nvSpPr>
          <p:cNvPr id="13" name="Card"/>
          <p:cNvSpPr/>
          <p:nvPr/>
        </p:nvSpPr>
        <p:spPr>
          <a:xfrm>
            <a:off x="6035040" y="1188720"/>
            <a:ext cx="2606040" cy="2331720"/>
          </a:xfrm>
          <a:prstGeom prst="roundRect">
            <a:avLst>
              <a:gd name="adj" fmla="val 3137"/>
            </a:avLst>
          </a:prstGeom>
          <a:solidFill>
            <a:schemeClr val="bg1"/>
          </a:solidFill>
          <a:ln w="9525">
            <a:solidFill>
              <a:srgbClr val="DDE3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Icon circle"/>
          <p:cNvSpPr/>
          <p:nvPr/>
        </p:nvSpPr>
        <p:spPr>
          <a:xfrm>
            <a:off x="6217920" y="1371600"/>
            <a:ext cx="502920" cy="50292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15" name="Image 2" descr="MousePointer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3650" y="1497330"/>
            <a:ext cx="251460" cy="2514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217920" y="196596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“SUBMIT”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6217920" y="288036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Vague, shouted in capitals, and does not say what will happen.</a:t>
            </a:r>
            <a:endParaRPr lang="en-US" sz="1300" dirty="0"/>
          </a:p>
        </p:txBody>
      </p:sp>
      <p:sp>
        <p:nvSpPr>
          <p:cNvPr id="18" name="Card"/>
          <p:cNvSpPr/>
          <p:nvPr/>
        </p:nvSpPr>
        <p:spPr>
          <a:xfrm>
            <a:off x="457200" y="3749040"/>
            <a:ext cx="8229600" cy="82296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685800" y="38404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Users hesitate, make mistakes or give up, and for people with low vision, dyslexia or screen readers, unclear text can make a product unusable. Reviewing it by hand is slow, and most checkers look at code, not words.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Aim and objectives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457200" y="1188720"/>
            <a:ext cx="3200400" cy="3337560"/>
          </a:xfrm>
          <a:prstGeom prst="roundRect">
            <a:avLst>
              <a:gd name="adj" fmla="val 2286"/>
            </a:avLst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371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FF1EF"/>
                </a:solidFill>
              </a:rPr>
              <a:t>AIM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73736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a web application that reviews interface text for clarity, accessibility, reading level and consistency, and recommends concrete changes.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37490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4F7F6"/>
                </a:solidFill>
              </a:rPr>
              <a:t>Input: website address, screenshot or pasted text.</a:t>
            </a:r>
            <a:endParaRPr lang="en-US" sz="1300" dirty="0"/>
          </a:p>
        </p:txBody>
      </p:sp>
      <p:sp>
        <p:nvSpPr>
          <p:cNvPr id="7" name="Card"/>
          <p:cNvSpPr/>
          <p:nvPr/>
        </p:nvSpPr>
        <p:spPr>
          <a:xfrm>
            <a:off x="3886200" y="1188720"/>
            <a:ext cx="4800600" cy="749808"/>
          </a:xfrm>
          <a:prstGeom prst="roundRect">
            <a:avLst>
              <a:gd name="adj" fmla="val 9756"/>
            </a:avLst>
          </a:prstGeom>
          <a:solidFill>
            <a:schemeClr val="bg1"/>
          </a:solidFill>
          <a:ln w="9525">
            <a:solidFill>
              <a:srgbClr val="DDE3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Icon circle"/>
          <p:cNvSpPr/>
          <p:nvPr/>
        </p:nvSpPr>
        <p:spPr>
          <a:xfrm>
            <a:off x="4023360" y="1316736"/>
            <a:ext cx="493776" cy="493776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pic>
        <p:nvPicPr>
          <p:cNvPr id="9" name="Image 0" descr="Globe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46804" y="1440180"/>
            <a:ext cx="246888" cy="246888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4663440" y="12801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Read text from three sources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4663440" y="15544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Website HTML (incl. JavaScript pages), OCR on screenshots, pasted text</a:t>
            </a:r>
            <a:endParaRPr lang="en-US" sz="1200" dirty="0"/>
          </a:p>
        </p:txBody>
      </p:sp>
      <p:sp>
        <p:nvSpPr>
          <p:cNvPr id="12" name="Card"/>
          <p:cNvSpPr/>
          <p:nvPr/>
        </p:nvSpPr>
        <p:spPr>
          <a:xfrm>
            <a:off x="3886200" y="2039112"/>
            <a:ext cx="4800600" cy="749808"/>
          </a:xfrm>
          <a:prstGeom prst="roundRect">
            <a:avLst>
              <a:gd name="adj" fmla="val 9756"/>
            </a:avLst>
          </a:prstGeom>
          <a:solidFill>
            <a:schemeClr val="bg1"/>
          </a:solidFill>
          <a:ln w="9525">
            <a:solidFill>
              <a:srgbClr val="DDE3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Icon circle"/>
          <p:cNvSpPr/>
          <p:nvPr/>
        </p:nvSpPr>
        <p:spPr>
          <a:xfrm>
            <a:off x="4023360" y="2167128"/>
            <a:ext cx="493776" cy="493776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pic>
        <p:nvPicPr>
          <p:cNvPr id="14" name="Image 1" descr="CheckDouble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6804" y="2290572"/>
            <a:ext cx="246888" cy="246888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4663440" y="213055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Check four dimensions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4663440" y="240487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Clarity, accessibility, reading level and consistency</a:t>
            </a:r>
            <a:endParaRPr lang="en-US" sz="1200" dirty="0"/>
          </a:p>
        </p:txBody>
      </p:sp>
      <p:sp>
        <p:nvSpPr>
          <p:cNvPr id="17" name="Card"/>
          <p:cNvSpPr/>
          <p:nvPr/>
        </p:nvSpPr>
        <p:spPr>
          <a:xfrm>
            <a:off x="3886200" y="2889504"/>
            <a:ext cx="4800600" cy="749808"/>
          </a:xfrm>
          <a:prstGeom prst="roundRect">
            <a:avLst>
              <a:gd name="adj" fmla="val 9756"/>
            </a:avLst>
          </a:prstGeom>
          <a:solidFill>
            <a:schemeClr val="bg1"/>
          </a:solidFill>
          <a:ln w="9525">
            <a:solidFill>
              <a:srgbClr val="DDE3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Icon circle"/>
          <p:cNvSpPr/>
          <p:nvPr/>
        </p:nvSpPr>
        <p:spPr>
          <a:xfrm>
            <a:off x="4023360" y="3017520"/>
            <a:ext cx="493776" cy="493776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pic>
        <p:nvPicPr>
          <p:cNvPr id="19" name="Image 2" descr="Adjust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6804" y="3140964"/>
            <a:ext cx="246888" cy="246888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4663440" y="298094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Measure what the eye sees</a:t>
            </a:r>
            <a:endParaRPr lang="en-US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4663440" y="3255264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Colour contrast and text size from screenshots</a:t>
            </a:r>
            <a:endParaRPr lang="en-US" sz="1200" dirty="0"/>
          </a:p>
        </p:txBody>
      </p:sp>
      <p:sp>
        <p:nvSpPr>
          <p:cNvPr id="22" name="Card"/>
          <p:cNvSpPr/>
          <p:nvPr/>
        </p:nvSpPr>
        <p:spPr>
          <a:xfrm>
            <a:off x="3886200" y="3739896"/>
            <a:ext cx="4800600" cy="749808"/>
          </a:xfrm>
          <a:prstGeom prst="roundRect">
            <a:avLst>
              <a:gd name="adj" fmla="val 9756"/>
            </a:avLst>
          </a:prstGeom>
          <a:solidFill>
            <a:schemeClr val="bg1"/>
          </a:solidFill>
          <a:ln w="9525">
            <a:solidFill>
              <a:srgbClr val="DDE3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Icon circle"/>
          <p:cNvSpPr/>
          <p:nvPr/>
        </p:nvSpPr>
        <p:spPr>
          <a:xfrm>
            <a:off x="4023360" y="3867912"/>
            <a:ext cx="493776" cy="493776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pic>
        <p:nvPicPr>
          <p:cNvPr id="24" name="Image 3" descr="ChartLine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6804" y="3991356"/>
            <a:ext cx="246888" cy="246888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4663440" y="383133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Score and recommend</a:t>
            </a:r>
            <a:endParaRPr lang="en-US" sz="1500" dirty="0"/>
          </a:p>
        </p:txBody>
      </p:sp>
      <p:sp>
        <p:nvSpPr>
          <p:cNvPr id="26" name="Text 20"/>
          <p:cNvSpPr txBox="1"/>
          <p:nvPr/>
        </p:nvSpPr>
        <p:spPr>
          <a:xfrm>
            <a:off x="4663440" y="410565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Prioritised fixes, rewrites and exports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system works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457200" y="1234440"/>
            <a:ext cx="2194560" cy="868680"/>
          </a:xfrm>
          <a:prstGeom prst="roundRect">
            <a:avLst>
              <a:gd name="adj" fmla="val 8421"/>
            </a:avLst>
          </a:prstGeom>
          <a:solidFill>
            <a:schemeClr val="bg1"/>
          </a:solidFill>
          <a:ln w="9525">
            <a:solidFill>
              <a:srgbClr val="DDE3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Icon circle"/>
          <p:cNvSpPr/>
          <p:nvPr/>
        </p:nvSpPr>
        <p:spPr>
          <a:xfrm>
            <a:off x="594360" y="1417320"/>
            <a:ext cx="502920" cy="502920"/>
          </a:xfrm>
          <a:prstGeom prst="ellipse">
            <a:avLst/>
          </a:prstGeom>
          <a:solidFill>
            <a:srgbClr val="2F6FDE"/>
          </a:solidFill>
          <a:ln w="12700">
            <a:solidFill>
              <a:srgbClr val="2F6FDE"/>
            </a:solidFill>
            <a:prstDash val="solid"/>
          </a:ln>
        </p:spPr>
      </p:sp>
      <p:pic>
        <p:nvPicPr>
          <p:cNvPr id="5" name="Image 0" descr="Globe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090" y="1543050"/>
            <a:ext cx="251460" cy="2514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34440" y="14173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Website address</a:t>
            </a:r>
            <a:endParaRPr lang="en-US" sz="1500" dirty="0"/>
          </a:p>
        </p:txBody>
      </p:sp>
      <p:sp>
        <p:nvSpPr>
          <p:cNvPr id="7" name="Card"/>
          <p:cNvSpPr/>
          <p:nvPr/>
        </p:nvSpPr>
        <p:spPr>
          <a:xfrm>
            <a:off x="457200" y="2286000"/>
            <a:ext cx="2194560" cy="868680"/>
          </a:xfrm>
          <a:prstGeom prst="roundRect">
            <a:avLst>
              <a:gd name="adj" fmla="val 8421"/>
            </a:avLst>
          </a:prstGeom>
          <a:solidFill>
            <a:schemeClr val="bg1"/>
          </a:solidFill>
          <a:ln w="9525">
            <a:solidFill>
              <a:srgbClr val="DDE3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Icon circle"/>
          <p:cNvSpPr/>
          <p:nvPr/>
        </p:nvSpPr>
        <p:spPr>
          <a:xfrm>
            <a:off x="594360" y="2468880"/>
            <a:ext cx="502920" cy="502920"/>
          </a:xfrm>
          <a:prstGeom prst="ellipse">
            <a:avLst/>
          </a:prstGeom>
          <a:solidFill>
            <a:srgbClr val="2F6FDE"/>
          </a:solidFill>
          <a:ln w="12700">
            <a:solidFill>
              <a:srgbClr val="2F6FDE"/>
            </a:solidFill>
            <a:prstDash val="solid"/>
          </a:ln>
        </p:spPr>
      </p:sp>
      <p:pic>
        <p:nvPicPr>
          <p:cNvPr id="9" name="Image 1" descr="Image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90" y="2594610"/>
            <a:ext cx="251460" cy="25146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234440" y="24688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Screenshot</a:t>
            </a:r>
            <a:endParaRPr lang="en-US" sz="1500" dirty="0"/>
          </a:p>
        </p:txBody>
      </p:sp>
      <p:sp>
        <p:nvSpPr>
          <p:cNvPr id="11" name="Card"/>
          <p:cNvSpPr/>
          <p:nvPr/>
        </p:nvSpPr>
        <p:spPr>
          <a:xfrm>
            <a:off x="457200" y="3337560"/>
            <a:ext cx="2194560" cy="868680"/>
          </a:xfrm>
          <a:prstGeom prst="roundRect">
            <a:avLst>
              <a:gd name="adj" fmla="val 8421"/>
            </a:avLst>
          </a:prstGeom>
          <a:solidFill>
            <a:schemeClr val="bg1"/>
          </a:solidFill>
          <a:ln w="9525">
            <a:solidFill>
              <a:srgbClr val="DDE3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Icon circle"/>
          <p:cNvSpPr/>
          <p:nvPr/>
        </p:nvSpPr>
        <p:spPr>
          <a:xfrm>
            <a:off x="594360" y="3520440"/>
            <a:ext cx="502920" cy="502920"/>
          </a:xfrm>
          <a:prstGeom prst="ellipse">
            <a:avLst/>
          </a:prstGeom>
          <a:solidFill>
            <a:srgbClr val="2F6FDE"/>
          </a:solidFill>
          <a:ln w="12700">
            <a:solidFill>
              <a:srgbClr val="2F6FDE"/>
            </a:solidFill>
            <a:prstDash val="solid"/>
          </a:ln>
        </p:spPr>
      </p:sp>
      <p:pic>
        <p:nvPicPr>
          <p:cNvPr id="13" name="Image 2" descr="Keyboard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90" y="3646170"/>
            <a:ext cx="251460" cy="25146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234440" y="35204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Pasted text</a:t>
            </a:r>
            <a:endParaRPr lang="en-US" sz="1500" dirty="0"/>
          </a:p>
        </p:txBody>
      </p:sp>
      <p:sp>
        <p:nvSpPr>
          <p:cNvPr id="15" name="Arrow"/>
          <p:cNvSpPr/>
          <p:nvPr/>
        </p:nvSpPr>
        <p:spPr>
          <a:xfrm>
            <a:off x="2788920" y="2331720"/>
            <a:ext cx="502920" cy="365760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6" name="Card"/>
          <p:cNvSpPr/>
          <p:nvPr/>
        </p:nvSpPr>
        <p:spPr>
          <a:xfrm>
            <a:off x="3429000" y="1234440"/>
            <a:ext cx="2377440" cy="3063240"/>
          </a:xfrm>
          <a:prstGeom prst="roundRect">
            <a:avLst>
              <a:gd name="adj" fmla="val 3077"/>
            </a:avLst>
          </a:prstGeom>
          <a:solidFill>
            <a:schemeClr val="tx2"/>
          </a:solidFill>
          <a:ln w="9525">
            <a:solidFill>
              <a:schemeClr val="tx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ext 12"/>
          <p:cNvSpPr txBox="1"/>
          <p:nvPr/>
        </p:nvSpPr>
        <p:spPr>
          <a:xfrm>
            <a:off x="3611880" y="13716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EC8C2"/>
                </a:solidFill>
              </a:rPr>
              <a:t>NLP REVIEW ENGINE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3611880" y="1737360"/>
            <a:ext cx="20574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Extract and classify text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Tokenise, count syllables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47 clarity, accessibility, reading and consistency rules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Contrast and size from pixels</a:t>
            </a:r>
            <a:endParaRPr lang="en-US" sz="1400" dirty="0"/>
          </a:p>
        </p:txBody>
      </p:sp>
      <p:sp>
        <p:nvSpPr>
          <p:cNvPr id="19" name="Arrow"/>
          <p:cNvSpPr/>
          <p:nvPr/>
        </p:nvSpPr>
        <p:spPr>
          <a:xfrm>
            <a:off x="5943600" y="2331720"/>
            <a:ext cx="502920" cy="365760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0" name="Card"/>
          <p:cNvSpPr/>
          <p:nvPr/>
        </p:nvSpPr>
        <p:spPr>
          <a:xfrm>
            <a:off x="6583680" y="1234440"/>
            <a:ext cx="2103120" cy="676656"/>
          </a:xfrm>
          <a:prstGeom prst="roundRect">
            <a:avLst>
              <a:gd name="adj" fmla="val 10811"/>
            </a:avLst>
          </a:prstGeom>
          <a:solidFill>
            <a:schemeClr val="bg1"/>
          </a:solidFill>
          <a:ln w="9525">
            <a:solidFill>
              <a:srgbClr val="DDE3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Icon circle"/>
          <p:cNvSpPr/>
          <p:nvPr/>
        </p:nvSpPr>
        <p:spPr>
          <a:xfrm>
            <a:off x="6675120" y="1325880"/>
            <a:ext cx="493776" cy="493776"/>
          </a:xfrm>
          <a:prstGeom prst="ellipse">
            <a:avLst/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pic>
        <p:nvPicPr>
          <p:cNvPr id="22" name="Image 3" descr="TachometerAlt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8564" y="1449324"/>
            <a:ext cx="246888" cy="246888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7269480" y="1325880"/>
            <a:ext cx="1371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Score and verdict</a:t>
            </a:r>
            <a:endParaRPr lang="en-US" sz="1300" dirty="0"/>
          </a:p>
        </p:txBody>
      </p:sp>
      <p:sp>
        <p:nvSpPr>
          <p:cNvPr id="24" name="Card"/>
          <p:cNvSpPr/>
          <p:nvPr/>
        </p:nvSpPr>
        <p:spPr>
          <a:xfrm>
            <a:off x="6583680" y="2029968"/>
            <a:ext cx="2103120" cy="676656"/>
          </a:xfrm>
          <a:prstGeom prst="roundRect">
            <a:avLst>
              <a:gd name="adj" fmla="val 10811"/>
            </a:avLst>
          </a:prstGeom>
          <a:solidFill>
            <a:schemeClr val="bg1"/>
          </a:solidFill>
          <a:ln w="9525">
            <a:solidFill>
              <a:srgbClr val="DDE3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Icon circle"/>
          <p:cNvSpPr/>
          <p:nvPr/>
        </p:nvSpPr>
        <p:spPr>
          <a:xfrm>
            <a:off x="6675120" y="2121408"/>
            <a:ext cx="493776" cy="493776"/>
          </a:xfrm>
          <a:prstGeom prst="ellipse">
            <a:avLst/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pic>
        <p:nvPicPr>
          <p:cNvPr id="26" name="Image 4" descr="ListOl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8564" y="2244852"/>
            <a:ext cx="246888" cy="246888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7269480" y="2121408"/>
            <a:ext cx="1371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“Fix these first” list</a:t>
            </a:r>
            <a:endParaRPr lang="en-US" sz="1300" dirty="0"/>
          </a:p>
        </p:txBody>
      </p:sp>
      <p:sp>
        <p:nvSpPr>
          <p:cNvPr id="28" name="Card"/>
          <p:cNvSpPr/>
          <p:nvPr/>
        </p:nvSpPr>
        <p:spPr>
          <a:xfrm>
            <a:off x="6583680" y="2825496"/>
            <a:ext cx="2103120" cy="676656"/>
          </a:xfrm>
          <a:prstGeom prst="roundRect">
            <a:avLst>
              <a:gd name="adj" fmla="val 10811"/>
            </a:avLst>
          </a:prstGeom>
          <a:solidFill>
            <a:schemeClr val="bg1"/>
          </a:solidFill>
          <a:ln w="9525">
            <a:solidFill>
              <a:srgbClr val="DDE3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Icon circle"/>
          <p:cNvSpPr/>
          <p:nvPr/>
        </p:nvSpPr>
        <p:spPr>
          <a:xfrm>
            <a:off x="6675120" y="2916936"/>
            <a:ext cx="493776" cy="493776"/>
          </a:xfrm>
          <a:prstGeom prst="ellipse">
            <a:avLst/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pic>
        <p:nvPicPr>
          <p:cNvPr id="30" name="Image 5" descr="Pen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98564" y="3040380"/>
            <a:ext cx="246888" cy="246888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7269480" y="2916936"/>
            <a:ext cx="1371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Suggested rewrites</a:t>
            </a:r>
            <a:endParaRPr lang="en-US" sz="1300" dirty="0"/>
          </a:p>
        </p:txBody>
      </p:sp>
      <p:sp>
        <p:nvSpPr>
          <p:cNvPr id="32" name="Card"/>
          <p:cNvSpPr/>
          <p:nvPr/>
        </p:nvSpPr>
        <p:spPr>
          <a:xfrm>
            <a:off x="6583680" y="3621024"/>
            <a:ext cx="2103120" cy="676656"/>
          </a:xfrm>
          <a:prstGeom prst="roundRect">
            <a:avLst>
              <a:gd name="adj" fmla="val 10811"/>
            </a:avLst>
          </a:prstGeom>
          <a:solidFill>
            <a:schemeClr val="bg1"/>
          </a:solidFill>
          <a:ln w="9525">
            <a:solidFill>
              <a:srgbClr val="DDE3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3" name="Icon circle"/>
          <p:cNvSpPr/>
          <p:nvPr/>
        </p:nvSpPr>
        <p:spPr>
          <a:xfrm>
            <a:off x="6675120" y="3712464"/>
            <a:ext cx="493776" cy="493776"/>
          </a:xfrm>
          <a:prstGeom prst="ellipse">
            <a:avLst/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pic>
        <p:nvPicPr>
          <p:cNvPr id="34" name="Image 6" descr="FileExport ico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98564" y="3835908"/>
            <a:ext cx="246888" cy="246888"/>
          </a:xfrm>
          <a:prstGeom prst="rect">
            <a:avLst/>
          </a:prstGeom>
        </p:spPr>
      </p:pic>
      <p:sp>
        <p:nvSpPr>
          <p:cNvPr id="35" name="Text 26"/>
          <p:cNvSpPr txBox="1"/>
          <p:nvPr/>
        </p:nvSpPr>
        <p:spPr>
          <a:xfrm>
            <a:off x="7269480" y="3712464"/>
            <a:ext cx="1371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CSV, JSON, PDF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457200" y="1234440"/>
            <a:ext cx="1920240" cy="1508760"/>
          </a:xfrm>
          <a:prstGeom prst="roundRect">
            <a:avLst>
              <a:gd name="adj" fmla="val 4848"/>
            </a:avLst>
          </a:prstGeom>
          <a:solidFill>
            <a:schemeClr val="bg1"/>
          </a:solidFill>
          <a:ln w="9525">
            <a:solidFill>
              <a:srgbClr val="DDE3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Icon circle"/>
          <p:cNvSpPr/>
          <p:nvPr/>
        </p:nvSpPr>
        <p:spPr>
          <a:xfrm>
            <a:off x="594360" y="1371600"/>
            <a:ext cx="457200" cy="45720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pic>
        <p:nvPicPr>
          <p:cNvPr id="5" name="Image 0" descr="Python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" y="1485900"/>
            <a:ext cx="228600" cy="2286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94360" y="19202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Python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219456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Core language</a:t>
            </a:r>
            <a:endParaRPr lang="en-US" sz="1200" dirty="0"/>
          </a:p>
        </p:txBody>
      </p:sp>
      <p:sp>
        <p:nvSpPr>
          <p:cNvPr id="8" name="Card"/>
          <p:cNvSpPr/>
          <p:nvPr/>
        </p:nvSpPr>
        <p:spPr>
          <a:xfrm>
            <a:off x="2542032" y="1234440"/>
            <a:ext cx="1920240" cy="1508760"/>
          </a:xfrm>
          <a:prstGeom prst="roundRect">
            <a:avLst>
              <a:gd name="adj" fmla="val 4848"/>
            </a:avLst>
          </a:prstGeom>
          <a:solidFill>
            <a:schemeClr val="bg1"/>
          </a:solidFill>
          <a:ln w="9525">
            <a:solidFill>
              <a:srgbClr val="DDE3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Icon circle"/>
          <p:cNvSpPr/>
          <p:nvPr/>
        </p:nvSpPr>
        <p:spPr>
          <a:xfrm>
            <a:off x="2679192" y="1371600"/>
            <a:ext cx="457200" cy="457200"/>
          </a:xfrm>
          <a:prstGeom prst="ellipse">
            <a:avLst/>
          </a:prstGeom>
          <a:solidFill>
            <a:srgbClr val="0E8F8A"/>
          </a:solidFill>
          <a:ln w="12700">
            <a:solidFill>
              <a:srgbClr val="0E8F8A"/>
            </a:solidFill>
            <a:prstDash val="solid"/>
          </a:ln>
        </p:spPr>
      </p:sp>
      <p:pic>
        <p:nvPicPr>
          <p:cNvPr id="10" name="Image 1" descr="Server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3492" y="1485900"/>
            <a:ext cx="228600" cy="2286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679192" y="19202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Flask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2679192" y="219456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Web server and REST API</a:t>
            </a:r>
            <a:endParaRPr lang="en-US" sz="1200" dirty="0"/>
          </a:p>
        </p:txBody>
      </p:sp>
      <p:sp>
        <p:nvSpPr>
          <p:cNvPr id="13" name="Card"/>
          <p:cNvSpPr/>
          <p:nvPr/>
        </p:nvSpPr>
        <p:spPr>
          <a:xfrm>
            <a:off x="4626864" y="1234440"/>
            <a:ext cx="1920240" cy="1508760"/>
          </a:xfrm>
          <a:prstGeom prst="roundRect">
            <a:avLst>
              <a:gd name="adj" fmla="val 4848"/>
            </a:avLst>
          </a:prstGeom>
          <a:solidFill>
            <a:schemeClr val="bg1"/>
          </a:solidFill>
          <a:ln w="9525">
            <a:solidFill>
              <a:srgbClr val="DDE3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Icon circle"/>
          <p:cNvSpPr/>
          <p:nvPr/>
        </p:nvSpPr>
        <p:spPr>
          <a:xfrm>
            <a:off x="4764024" y="1371600"/>
            <a:ext cx="457200" cy="45720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pic>
        <p:nvPicPr>
          <p:cNvPr id="15" name="Image 2" descr="Chrome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8324" y="1485900"/>
            <a:ext cx="228600" cy="2286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764024" y="19202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Playwright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4764024" y="219456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Runs JavaScript pages in headless Chromium</a:t>
            </a:r>
            <a:endParaRPr lang="en-US" sz="1200" dirty="0"/>
          </a:p>
        </p:txBody>
      </p:sp>
      <p:sp>
        <p:nvSpPr>
          <p:cNvPr id="18" name="Card"/>
          <p:cNvSpPr/>
          <p:nvPr/>
        </p:nvSpPr>
        <p:spPr>
          <a:xfrm>
            <a:off x="6711696" y="1234440"/>
            <a:ext cx="1920240" cy="1508760"/>
          </a:xfrm>
          <a:prstGeom prst="roundRect">
            <a:avLst>
              <a:gd name="adj" fmla="val 4848"/>
            </a:avLst>
          </a:prstGeom>
          <a:solidFill>
            <a:schemeClr val="bg1"/>
          </a:solidFill>
          <a:ln w="9525">
            <a:solidFill>
              <a:srgbClr val="DDE3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Icon circle"/>
          <p:cNvSpPr/>
          <p:nvPr/>
        </p:nvSpPr>
        <p:spPr>
          <a:xfrm>
            <a:off x="6848856" y="1371600"/>
            <a:ext cx="457200" cy="457200"/>
          </a:xfrm>
          <a:prstGeom prst="ellipse">
            <a:avLst/>
          </a:prstGeom>
          <a:solidFill>
            <a:srgbClr val="0E8F8A"/>
          </a:solidFill>
          <a:ln w="12700">
            <a:solidFill>
              <a:srgbClr val="0E8F8A"/>
            </a:solidFill>
            <a:prstDash val="solid"/>
          </a:ln>
        </p:spPr>
      </p:sp>
      <p:pic>
        <p:nvPicPr>
          <p:cNvPr id="20" name="Image 3" descr="Eye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3156" y="1485900"/>
            <a:ext cx="228600" cy="2286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848856" y="19202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RapidOCR + ONNX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6848856" y="219456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Reads text from screenshots</a:t>
            </a:r>
            <a:endParaRPr lang="en-US" sz="1200" dirty="0"/>
          </a:p>
        </p:txBody>
      </p:sp>
      <p:sp>
        <p:nvSpPr>
          <p:cNvPr id="23" name="Card"/>
          <p:cNvSpPr/>
          <p:nvPr/>
        </p:nvSpPr>
        <p:spPr>
          <a:xfrm>
            <a:off x="457200" y="2926080"/>
            <a:ext cx="1920240" cy="1508760"/>
          </a:xfrm>
          <a:prstGeom prst="roundRect">
            <a:avLst>
              <a:gd name="adj" fmla="val 4848"/>
            </a:avLst>
          </a:prstGeom>
          <a:solidFill>
            <a:schemeClr val="bg1"/>
          </a:solidFill>
          <a:ln w="9525">
            <a:solidFill>
              <a:srgbClr val="DDE3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Icon circle"/>
          <p:cNvSpPr/>
          <p:nvPr/>
        </p:nvSpPr>
        <p:spPr>
          <a:xfrm>
            <a:off x="594360" y="3063240"/>
            <a:ext cx="457200" cy="45720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pic>
        <p:nvPicPr>
          <p:cNvPr id="25" name="Image 4" descr="Images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660" y="3177540"/>
            <a:ext cx="228600" cy="22860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594360" y="36118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Pillow + NumPy</a:t>
            </a:r>
            <a:endParaRPr lang="en-US" sz="1500" dirty="0"/>
          </a:p>
        </p:txBody>
      </p:sp>
      <p:sp>
        <p:nvSpPr>
          <p:cNvPr id="27" name="Text 20"/>
          <p:cNvSpPr txBox="1"/>
          <p:nvPr/>
        </p:nvSpPr>
        <p:spPr>
          <a:xfrm>
            <a:off x="594360" y="38862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Colour and size measurement</a:t>
            </a:r>
            <a:endParaRPr lang="en-US" sz="1200" dirty="0"/>
          </a:p>
        </p:txBody>
      </p:sp>
      <p:sp>
        <p:nvSpPr>
          <p:cNvPr id="28" name="Card"/>
          <p:cNvSpPr/>
          <p:nvPr/>
        </p:nvSpPr>
        <p:spPr>
          <a:xfrm>
            <a:off x="2542032" y="2926080"/>
            <a:ext cx="1920240" cy="1508760"/>
          </a:xfrm>
          <a:prstGeom prst="roundRect">
            <a:avLst>
              <a:gd name="adj" fmla="val 4848"/>
            </a:avLst>
          </a:prstGeom>
          <a:solidFill>
            <a:schemeClr val="bg1"/>
          </a:solidFill>
          <a:ln w="9525">
            <a:solidFill>
              <a:srgbClr val="DDE3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Icon circle"/>
          <p:cNvSpPr/>
          <p:nvPr/>
        </p:nvSpPr>
        <p:spPr>
          <a:xfrm>
            <a:off x="2679192" y="3063240"/>
            <a:ext cx="457200" cy="457200"/>
          </a:xfrm>
          <a:prstGeom prst="ellipse">
            <a:avLst/>
          </a:prstGeom>
          <a:solidFill>
            <a:srgbClr val="0E8F8A"/>
          </a:solidFill>
          <a:ln w="12700">
            <a:solidFill>
              <a:srgbClr val="0E8F8A"/>
            </a:solidFill>
            <a:prstDash val="solid"/>
          </a:ln>
        </p:spPr>
      </p:sp>
      <p:pic>
        <p:nvPicPr>
          <p:cNvPr id="30" name="Image 5" descr="Code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93492" y="3177540"/>
            <a:ext cx="228600" cy="22860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2679192" y="36118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re + HTMLParser</a:t>
            </a:r>
            <a:endParaRPr lang="en-US" sz="1500" dirty="0"/>
          </a:p>
        </p:txBody>
      </p:sp>
      <p:sp>
        <p:nvSpPr>
          <p:cNvPr id="32" name="Text 24"/>
          <p:cNvSpPr txBox="1"/>
          <p:nvPr/>
        </p:nvSpPr>
        <p:spPr>
          <a:xfrm>
            <a:off x="2679192" y="38862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Pattern matching and page parsing</a:t>
            </a:r>
            <a:endParaRPr lang="en-US" sz="1200" dirty="0"/>
          </a:p>
        </p:txBody>
      </p:sp>
      <p:sp>
        <p:nvSpPr>
          <p:cNvPr id="33" name="Card"/>
          <p:cNvSpPr/>
          <p:nvPr/>
        </p:nvSpPr>
        <p:spPr>
          <a:xfrm>
            <a:off x="4626864" y="2926080"/>
            <a:ext cx="1920240" cy="1508760"/>
          </a:xfrm>
          <a:prstGeom prst="roundRect">
            <a:avLst>
              <a:gd name="adj" fmla="val 4848"/>
            </a:avLst>
          </a:prstGeom>
          <a:solidFill>
            <a:schemeClr val="bg1"/>
          </a:solidFill>
          <a:ln w="9525">
            <a:solidFill>
              <a:srgbClr val="DDE3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4" name="Icon circle"/>
          <p:cNvSpPr/>
          <p:nvPr/>
        </p:nvSpPr>
        <p:spPr>
          <a:xfrm>
            <a:off x="4764024" y="3063240"/>
            <a:ext cx="457200" cy="45720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pic>
        <p:nvPicPr>
          <p:cNvPr id="35" name="Image 6" descr="LaptopCode ico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78324" y="3177540"/>
            <a:ext cx="228600" cy="228600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4764024" y="36118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HTML, CSS, JS</a:t>
            </a:r>
            <a:endParaRPr lang="en-US" sz="1500" dirty="0"/>
          </a:p>
        </p:txBody>
      </p:sp>
      <p:sp>
        <p:nvSpPr>
          <p:cNvPr id="37" name="Text 28"/>
          <p:cNvSpPr txBox="1"/>
          <p:nvPr/>
        </p:nvSpPr>
        <p:spPr>
          <a:xfrm>
            <a:off x="4764024" y="38862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Front end without a framework</a:t>
            </a:r>
            <a:endParaRPr lang="en-US" sz="1200" dirty="0"/>
          </a:p>
        </p:txBody>
      </p:sp>
      <p:sp>
        <p:nvSpPr>
          <p:cNvPr id="38" name="Card"/>
          <p:cNvSpPr/>
          <p:nvPr/>
        </p:nvSpPr>
        <p:spPr>
          <a:xfrm>
            <a:off x="6711696" y="2926080"/>
            <a:ext cx="1920240" cy="1508760"/>
          </a:xfrm>
          <a:prstGeom prst="roundRect">
            <a:avLst>
              <a:gd name="adj" fmla="val 4848"/>
            </a:avLst>
          </a:prstGeom>
          <a:solidFill>
            <a:schemeClr val="bg1"/>
          </a:solidFill>
          <a:ln w="9525">
            <a:solidFill>
              <a:srgbClr val="DDE3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9" name="Icon circle"/>
          <p:cNvSpPr/>
          <p:nvPr/>
        </p:nvSpPr>
        <p:spPr>
          <a:xfrm>
            <a:off x="6848856" y="3063240"/>
            <a:ext cx="457200" cy="457200"/>
          </a:xfrm>
          <a:prstGeom prst="ellipse">
            <a:avLst/>
          </a:prstGeom>
          <a:solidFill>
            <a:srgbClr val="0E8F8A"/>
          </a:solidFill>
          <a:ln w="12700">
            <a:solidFill>
              <a:srgbClr val="0E8F8A"/>
            </a:solidFill>
            <a:prstDash val="solid"/>
          </a:ln>
        </p:spPr>
      </p:sp>
      <p:pic>
        <p:nvPicPr>
          <p:cNvPr id="40" name="Image 7" descr="Vial icon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63156" y="3177540"/>
            <a:ext cx="228600" cy="228600"/>
          </a:xfrm>
          <a:prstGeom prst="rect">
            <a:avLst/>
          </a:prstGeom>
        </p:spPr>
      </p:pic>
      <p:sp>
        <p:nvSpPr>
          <p:cNvPr id="41" name="Text 31"/>
          <p:cNvSpPr txBox="1"/>
          <p:nvPr/>
        </p:nvSpPr>
        <p:spPr>
          <a:xfrm>
            <a:off x="6848856" y="36118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pytest</a:t>
            </a:r>
            <a:endParaRPr lang="en-US" sz="1500" dirty="0"/>
          </a:p>
        </p:txBody>
      </p:sp>
      <p:sp>
        <p:nvSpPr>
          <p:cNvPr id="42" name="Text 32"/>
          <p:cNvSpPr txBox="1"/>
          <p:nvPr/>
        </p:nvSpPr>
        <p:spPr>
          <a:xfrm>
            <a:off x="6848856" y="38862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21 automated tests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Theory behind the checks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457200" y="1188720"/>
            <a:ext cx="2606040" cy="3337560"/>
          </a:xfrm>
          <a:prstGeom prst="roundRect">
            <a:avLst>
              <a:gd name="adj" fmla="val 2807"/>
            </a:avLst>
          </a:prstGeom>
          <a:solidFill>
            <a:schemeClr val="bg1"/>
          </a:solidFill>
          <a:ln w="9525">
            <a:solidFill>
              <a:srgbClr val="DDE3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Icon circle"/>
          <p:cNvSpPr/>
          <p:nvPr/>
        </p:nvSpPr>
        <p:spPr>
          <a:xfrm>
            <a:off x="640080" y="1325880"/>
            <a:ext cx="502920" cy="502920"/>
          </a:xfrm>
          <a:prstGeom prst="ellipse">
            <a:avLst/>
          </a:prstGeom>
          <a:solidFill>
            <a:srgbClr val="2F6FDE"/>
          </a:solidFill>
          <a:ln w="12700">
            <a:solidFill>
              <a:srgbClr val="2F6FDE"/>
            </a:solidFill>
            <a:prstDash val="solid"/>
          </a:ln>
        </p:spPr>
      </p:sp>
      <p:pic>
        <p:nvPicPr>
          <p:cNvPr id="5" name="Image 0" descr="BookOpen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5810" y="1451610"/>
            <a:ext cx="251460" cy="2514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80160" y="13716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Reading level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057400"/>
            <a:ext cx="2286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Flesch Reading Ease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chemeClr val="accent5"/>
                </a:solidFill>
              </a:rPr>
              <a:t>206.835 − 1.015·(words/sentences) − 84.6·(syllables/words)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Flesch–Kincaid Grade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chemeClr val="accent5"/>
                </a:solidFill>
              </a:rPr>
              <a:t>0.39·(words/sentences) + 11.8·(syllables/words) − 15.59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Target: grade 8 or lower</a:t>
            </a:r>
            <a:endParaRPr lang="en-US" sz="1400" dirty="0"/>
          </a:p>
        </p:txBody>
      </p:sp>
      <p:sp>
        <p:nvSpPr>
          <p:cNvPr id="8" name="Card"/>
          <p:cNvSpPr/>
          <p:nvPr/>
        </p:nvSpPr>
        <p:spPr>
          <a:xfrm>
            <a:off x="3246120" y="1188720"/>
            <a:ext cx="2606040" cy="3337560"/>
          </a:xfrm>
          <a:prstGeom prst="roundRect">
            <a:avLst>
              <a:gd name="adj" fmla="val 2807"/>
            </a:avLst>
          </a:prstGeom>
          <a:solidFill>
            <a:schemeClr val="bg1"/>
          </a:solidFill>
          <a:ln w="9525">
            <a:solidFill>
              <a:srgbClr val="DDE3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Icon circle"/>
          <p:cNvSpPr/>
          <p:nvPr/>
        </p:nvSpPr>
        <p:spPr>
          <a:xfrm>
            <a:off x="3429000" y="1325880"/>
            <a:ext cx="502920" cy="502920"/>
          </a:xfrm>
          <a:prstGeom prst="ellipse">
            <a:avLst/>
          </a:prstGeom>
          <a:solidFill>
            <a:srgbClr val="0E8F8A"/>
          </a:solidFill>
          <a:ln w="12700">
            <a:solidFill>
              <a:srgbClr val="0E8F8A"/>
            </a:solidFill>
            <a:prstDash val="solid"/>
          </a:ln>
        </p:spPr>
      </p:sp>
      <p:pic>
        <p:nvPicPr>
          <p:cNvPr id="10" name="Image 1" descr="Adjust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4730" y="1451610"/>
            <a:ext cx="251460" cy="2514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069080" y="13716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Colour contrast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3429000" y="2057400"/>
            <a:ext cx="2286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Ratio = (L1 + 0.05) ÷ (L2 + 0.05)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L = relative luminance of each colour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WCAG minimum: 4.5 : 1 normal text, 3 : 1 large text</a:t>
            </a:r>
            <a:endParaRPr lang="en-US" sz="1400" dirty="0"/>
          </a:p>
        </p:txBody>
      </p:sp>
      <p:sp>
        <p:nvSpPr>
          <p:cNvPr id="13" name="Card"/>
          <p:cNvSpPr/>
          <p:nvPr/>
        </p:nvSpPr>
        <p:spPr>
          <a:xfrm>
            <a:off x="6035040" y="1188720"/>
            <a:ext cx="2606040" cy="3337560"/>
          </a:xfrm>
          <a:prstGeom prst="roundRect">
            <a:avLst>
              <a:gd name="adj" fmla="val 2807"/>
            </a:avLst>
          </a:prstGeom>
          <a:solidFill>
            <a:schemeClr val="bg1"/>
          </a:solidFill>
          <a:ln w="9525">
            <a:solidFill>
              <a:srgbClr val="DDE3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Icon circle"/>
          <p:cNvSpPr/>
          <p:nvPr/>
        </p:nvSpPr>
        <p:spPr>
          <a:xfrm>
            <a:off x="6217920" y="1325880"/>
            <a:ext cx="502920" cy="50292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pic>
        <p:nvPicPr>
          <p:cNvPr id="15" name="Image 2" descr="ProjectDiagram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3650" y="1451610"/>
            <a:ext cx="251460" cy="2514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858000" y="13716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Rule-based NLP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6217920" y="2057400"/>
            <a:ext cx="2286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Word lists: jargon, vague actions, synonyms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Patterns: passive voice, negatives, error codes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Transparent: every finding names its rule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457200" y="1188720"/>
            <a:ext cx="2606040" cy="1554480"/>
          </a:xfrm>
          <a:prstGeom prst="roundRect">
            <a:avLst>
              <a:gd name="adj" fmla="val 4706"/>
            </a:avLst>
          </a:prstGeom>
          <a:solidFill>
            <a:schemeClr val="bg1"/>
          </a:solidFill>
          <a:ln w="9525">
            <a:solidFill>
              <a:srgbClr val="DDE3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tep number"/>
          <p:cNvSpPr/>
          <p:nvPr/>
        </p:nvSpPr>
        <p:spPr>
          <a:xfrm>
            <a:off x="640080" y="1353312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3533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35331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Acquire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938528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Fetch the page (and run its JavaScript if needed) or read the screenshot with OCR</a:t>
            </a:r>
            <a:endParaRPr lang="en-US" sz="1300" dirty="0"/>
          </a:p>
        </p:txBody>
      </p:sp>
      <p:sp>
        <p:nvSpPr>
          <p:cNvPr id="8" name="Card"/>
          <p:cNvSpPr/>
          <p:nvPr/>
        </p:nvSpPr>
        <p:spPr>
          <a:xfrm>
            <a:off x="3246120" y="1188720"/>
            <a:ext cx="2606040" cy="1554480"/>
          </a:xfrm>
          <a:prstGeom prst="roundRect">
            <a:avLst>
              <a:gd name="adj" fmla="val 4706"/>
            </a:avLst>
          </a:prstGeom>
          <a:solidFill>
            <a:schemeClr val="bg1"/>
          </a:solidFill>
          <a:ln w="9525">
            <a:solidFill>
              <a:srgbClr val="DDE3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tep number"/>
          <p:cNvSpPr/>
          <p:nvPr/>
        </p:nvSpPr>
        <p:spPr>
          <a:xfrm>
            <a:off x="3429000" y="1353312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29000" y="13533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023360" y="135331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Extract and classify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429000" y="1938528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Buttons, links, labels, headings, messages, alt text, paragraphs</a:t>
            </a:r>
            <a:endParaRPr lang="en-US" sz="1300" dirty="0"/>
          </a:p>
        </p:txBody>
      </p:sp>
      <p:sp>
        <p:nvSpPr>
          <p:cNvPr id="13" name="Card"/>
          <p:cNvSpPr/>
          <p:nvPr/>
        </p:nvSpPr>
        <p:spPr>
          <a:xfrm>
            <a:off x="6035040" y="1188720"/>
            <a:ext cx="2606040" cy="1554480"/>
          </a:xfrm>
          <a:prstGeom prst="roundRect">
            <a:avLst>
              <a:gd name="adj" fmla="val 4706"/>
            </a:avLst>
          </a:prstGeom>
          <a:solidFill>
            <a:schemeClr val="bg1"/>
          </a:solidFill>
          <a:ln w="9525">
            <a:solidFill>
              <a:srgbClr val="DDE3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tep number"/>
          <p:cNvSpPr/>
          <p:nvPr/>
        </p:nvSpPr>
        <p:spPr>
          <a:xfrm>
            <a:off x="6217920" y="1353312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17920" y="13533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812280" y="135331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Pre-process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217920" y="1938528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Words, sentences and syllable counts</a:t>
            </a:r>
            <a:endParaRPr lang="en-US" sz="1300" dirty="0"/>
          </a:p>
        </p:txBody>
      </p:sp>
      <p:sp>
        <p:nvSpPr>
          <p:cNvPr id="18" name="Card"/>
          <p:cNvSpPr/>
          <p:nvPr/>
        </p:nvSpPr>
        <p:spPr>
          <a:xfrm>
            <a:off x="457200" y="2926080"/>
            <a:ext cx="2606040" cy="1554480"/>
          </a:xfrm>
          <a:prstGeom prst="roundRect">
            <a:avLst>
              <a:gd name="adj" fmla="val 4706"/>
            </a:avLst>
          </a:prstGeom>
          <a:solidFill>
            <a:schemeClr val="bg1"/>
          </a:solidFill>
          <a:ln w="9525">
            <a:solidFill>
              <a:srgbClr val="DDE3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tep number"/>
          <p:cNvSpPr/>
          <p:nvPr/>
        </p:nvSpPr>
        <p:spPr>
          <a:xfrm>
            <a:off x="640080" y="3090672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" y="3090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234440" y="309067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Apply rules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3675888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Clarity, accessibility, reading level, consistency, page and visual checks</a:t>
            </a:r>
            <a:endParaRPr lang="en-US" sz="1300" dirty="0"/>
          </a:p>
        </p:txBody>
      </p:sp>
      <p:sp>
        <p:nvSpPr>
          <p:cNvPr id="23" name="Card"/>
          <p:cNvSpPr/>
          <p:nvPr/>
        </p:nvSpPr>
        <p:spPr>
          <a:xfrm>
            <a:off x="3246120" y="2926080"/>
            <a:ext cx="2606040" cy="1554480"/>
          </a:xfrm>
          <a:prstGeom prst="roundRect">
            <a:avLst>
              <a:gd name="adj" fmla="val 4706"/>
            </a:avLst>
          </a:prstGeom>
          <a:solidFill>
            <a:schemeClr val="bg1"/>
          </a:solidFill>
          <a:ln w="9525">
            <a:solidFill>
              <a:srgbClr val="DDE3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Step number"/>
          <p:cNvSpPr/>
          <p:nvPr/>
        </p:nvSpPr>
        <p:spPr>
          <a:xfrm>
            <a:off x="3429000" y="3090672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429000" y="3090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4023360" y="309067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Score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3429000" y="3675888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Start at 100; lose 22 / 12 / 5 points per high / medium / low issue</a:t>
            </a:r>
            <a:endParaRPr lang="en-US" sz="1300" dirty="0"/>
          </a:p>
        </p:txBody>
      </p:sp>
      <p:sp>
        <p:nvSpPr>
          <p:cNvPr id="28" name="Card"/>
          <p:cNvSpPr/>
          <p:nvPr/>
        </p:nvSpPr>
        <p:spPr>
          <a:xfrm>
            <a:off x="6035040" y="2926080"/>
            <a:ext cx="2606040" cy="1554480"/>
          </a:xfrm>
          <a:prstGeom prst="roundRect">
            <a:avLst>
              <a:gd name="adj" fmla="val 4706"/>
            </a:avLst>
          </a:prstGeom>
          <a:solidFill>
            <a:schemeClr val="bg1"/>
          </a:solidFill>
          <a:ln w="9525">
            <a:solidFill>
              <a:srgbClr val="DDE3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Step number"/>
          <p:cNvSpPr/>
          <p:nvPr/>
        </p:nvSpPr>
        <p:spPr>
          <a:xfrm>
            <a:off x="6217920" y="3090672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217920" y="3090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6812280" y="309067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Recommend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6217920" y="3675888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Suggested fixes, rewrites, sorted by severity, with exports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diagram</a:t>
            </a:r>
            <a:endParaRPr lang="en-US" sz="3200" dirty="0"/>
          </a:p>
        </p:txBody>
      </p:sp>
      <p:pic>
        <p:nvPicPr>
          <p:cNvPr id="3" name="Image 0" descr="Architecture flowchart from user input to results dashbo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051560"/>
            <a:ext cx="2547422" cy="3611880"/>
          </a:xfrm>
          <a:prstGeom prst="rect">
            <a:avLst/>
          </a:prstGeom>
        </p:spPr>
      </p:pic>
      <p:sp>
        <p:nvSpPr>
          <p:cNvPr id="4" name="Card"/>
          <p:cNvSpPr/>
          <p:nvPr/>
        </p:nvSpPr>
        <p:spPr>
          <a:xfrm>
            <a:off x="4114800" y="1188720"/>
            <a:ext cx="4572000" cy="3337560"/>
          </a:xfrm>
          <a:prstGeom prst="roundRect">
            <a:avLst>
              <a:gd name="adj" fmla="val 2192"/>
            </a:avLst>
          </a:prstGeom>
          <a:solidFill>
            <a:schemeClr val="bg1"/>
          </a:solidFill>
          <a:ln w="9525">
            <a:solidFill>
              <a:srgbClr val="DDE3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4343400" y="1371600"/>
            <a:ext cx="41148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Input layer: URL, screenshot or text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Acquisition: HTML fetch, JavaScript render, OCR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Extraction: typed list of interface strings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Pre-processing: words, sentences, syllables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Rule engine: four language dimensions plus page and visual checks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Scoring: severity, suggestions, rewrites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Dashboard: report and exports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Component diagram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457200" y="1097280"/>
            <a:ext cx="8229600" cy="3520440"/>
          </a:xfrm>
          <a:prstGeom prst="roundRect">
            <a:avLst>
              <a:gd name="adj" fmla="val 2078"/>
            </a:avLst>
          </a:prstGeom>
          <a:solidFill>
            <a:schemeClr val="bg1"/>
          </a:solidFill>
          <a:ln w="9525">
            <a:solidFill>
              <a:srgbClr val="DDE3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4" name="Image 0" descr="Component diagram: web interface, Flask server, scanner, analyzer, screenshot reviewer, headless browser, rule base and OCR engi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188720"/>
            <a:ext cx="6856694" cy="331012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checks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457200" y="1188720"/>
            <a:ext cx="4023360" cy="1554480"/>
          </a:xfrm>
          <a:prstGeom prst="roundRect">
            <a:avLst>
              <a:gd name="adj" fmla="val 4706"/>
            </a:avLst>
          </a:prstGeom>
          <a:solidFill>
            <a:schemeClr val="bg1"/>
          </a:solidFill>
          <a:ln w="9525">
            <a:solidFill>
              <a:srgbClr val="DDE3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Icon circle"/>
          <p:cNvSpPr/>
          <p:nvPr/>
        </p:nvSpPr>
        <p:spPr>
          <a:xfrm>
            <a:off x="640080" y="1353312"/>
            <a:ext cx="502920" cy="502920"/>
          </a:xfrm>
          <a:prstGeom prst="ellipse">
            <a:avLst/>
          </a:prstGeom>
          <a:solidFill>
            <a:srgbClr val="2F6FDE"/>
          </a:solidFill>
          <a:ln w="12700">
            <a:solidFill>
              <a:srgbClr val="2F6FDE"/>
            </a:solidFill>
            <a:prstDash val="solid"/>
          </a:ln>
        </p:spPr>
      </p:sp>
      <p:pic>
        <p:nvPicPr>
          <p:cNvPr id="5" name="Image 0" descr="Lightbulb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5810" y="1479042"/>
            <a:ext cx="251460" cy="2514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80160" y="13716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Clarity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0116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accent3"/>
                </a:solidFill>
              </a:rPr>
              <a:t>“Submit”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accent6"/>
                </a:solidFill>
              </a:rPr>
              <a:t>→  “Send message”</a:t>
            </a:r>
            <a:endParaRPr lang="en-US" sz="1500" dirty="0"/>
          </a:p>
        </p:txBody>
      </p:sp>
      <p:sp>
        <p:nvSpPr>
          <p:cNvPr id="8" name="Card"/>
          <p:cNvSpPr/>
          <p:nvPr/>
        </p:nvSpPr>
        <p:spPr>
          <a:xfrm>
            <a:off x="4663440" y="1188720"/>
            <a:ext cx="4023360" cy="1554480"/>
          </a:xfrm>
          <a:prstGeom prst="roundRect">
            <a:avLst>
              <a:gd name="adj" fmla="val 4706"/>
            </a:avLst>
          </a:prstGeom>
          <a:solidFill>
            <a:schemeClr val="bg1"/>
          </a:solidFill>
          <a:ln w="9525">
            <a:solidFill>
              <a:srgbClr val="DDE3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Icon circle"/>
          <p:cNvSpPr/>
          <p:nvPr/>
        </p:nvSpPr>
        <p:spPr>
          <a:xfrm>
            <a:off x="4846320" y="1353312"/>
            <a:ext cx="502920" cy="502920"/>
          </a:xfrm>
          <a:prstGeom prst="ellipse">
            <a:avLst/>
          </a:prstGeom>
          <a:solidFill>
            <a:srgbClr val="0E8F8A"/>
          </a:solidFill>
          <a:ln w="12700">
            <a:solidFill>
              <a:srgbClr val="0E8F8A"/>
            </a:solidFill>
            <a:prstDash val="solid"/>
          </a:ln>
        </p:spPr>
      </p:sp>
      <p:pic>
        <p:nvPicPr>
          <p:cNvPr id="10" name="Image 1" descr="UniversalAccess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2050" y="1479042"/>
            <a:ext cx="251460" cy="2514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486400" y="13716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Accessibility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4846320" y="20116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accent3"/>
                </a:solidFill>
              </a:rPr>
              <a:t>“Click here”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accent6"/>
                </a:solidFill>
              </a:rPr>
              <a:t>→  “View billing history”</a:t>
            </a:r>
            <a:endParaRPr lang="en-US" sz="1500" dirty="0"/>
          </a:p>
        </p:txBody>
      </p:sp>
      <p:sp>
        <p:nvSpPr>
          <p:cNvPr id="13" name="Card"/>
          <p:cNvSpPr/>
          <p:nvPr/>
        </p:nvSpPr>
        <p:spPr>
          <a:xfrm>
            <a:off x="457200" y="2926080"/>
            <a:ext cx="4023360" cy="1554480"/>
          </a:xfrm>
          <a:prstGeom prst="roundRect">
            <a:avLst>
              <a:gd name="adj" fmla="val 4706"/>
            </a:avLst>
          </a:prstGeom>
          <a:solidFill>
            <a:schemeClr val="bg1"/>
          </a:solidFill>
          <a:ln w="9525">
            <a:solidFill>
              <a:srgbClr val="DDE3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Icon circle"/>
          <p:cNvSpPr/>
          <p:nvPr/>
        </p:nvSpPr>
        <p:spPr>
          <a:xfrm>
            <a:off x="640080" y="3090672"/>
            <a:ext cx="502920" cy="502920"/>
          </a:xfrm>
          <a:prstGeom prst="ellipse">
            <a:avLst/>
          </a:prstGeom>
          <a:solidFill>
            <a:srgbClr val="F2A33A"/>
          </a:solidFill>
          <a:ln w="12700">
            <a:solidFill>
              <a:srgbClr val="F2A33A"/>
            </a:solidFill>
            <a:prstDash val="solid"/>
          </a:ln>
        </p:spPr>
      </p:sp>
      <p:pic>
        <p:nvPicPr>
          <p:cNvPr id="15" name="Image 2" descr="BookReader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810" y="3216402"/>
            <a:ext cx="251460" cy="2514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280160" y="31089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Reading level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640080" y="374904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accent3"/>
                </a:solidFill>
              </a:rPr>
              <a:t>Grade 17 sentence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accent6"/>
                </a:solidFill>
              </a:rPr>
              <a:t>→  Grade 8: shorter, plain words</a:t>
            </a:r>
            <a:endParaRPr lang="en-US" sz="1500" dirty="0"/>
          </a:p>
        </p:txBody>
      </p:sp>
      <p:sp>
        <p:nvSpPr>
          <p:cNvPr id="18" name="Card"/>
          <p:cNvSpPr/>
          <p:nvPr/>
        </p:nvSpPr>
        <p:spPr>
          <a:xfrm>
            <a:off x="4663440" y="2926080"/>
            <a:ext cx="4023360" cy="1554480"/>
          </a:xfrm>
          <a:prstGeom prst="roundRect">
            <a:avLst>
              <a:gd name="adj" fmla="val 4706"/>
            </a:avLst>
          </a:prstGeom>
          <a:solidFill>
            <a:schemeClr val="bg1"/>
          </a:solidFill>
          <a:ln w="9525">
            <a:solidFill>
              <a:srgbClr val="DDE3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Icon circle"/>
          <p:cNvSpPr/>
          <p:nvPr/>
        </p:nvSpPr>
        <p:spPr>
          <a:xfrm>
            <a:off x="4846320" y="3090672"/>
            <a:ext cx="502920" cy="50292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pic>
        <p:nvPicPr>
          <p:cNvPr id="20" name="Image 3" descr="Equals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2050" y="3216402"/>
            <a:ext cx="251460" cy="25146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486400" y="31089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Consistency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4846320" y="374904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accent3"/>
                </a:solidFill>
              </a:rPr>
              <a:t>Log in / Sign in / Login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accent6"/>
                </a:solidFill>
              </a:rPr>
              <a:t>→  One term everywhere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Website scan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38404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Downloads the page safely; internal network addresses are blocked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Runs JavaScript in a headless browser when the page needs it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Extracts buttons, links, labels, headings, messages, alt text and paragraphs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Page checks: alt text, field labels, language, zoom, headings, duplicate link text</a:t>
            </a:r>
            <a:endParaRPr lang="en-US" sz="1500" dirty="0"/>
          </a:p>
        </p:txBody>
      </p:sp>
      <p:pic>
        <p:nvPicPr>
          <p:cNvPr id="4" name="Image 0" descr="Score card for the badly written demo site: 40 out of 100, Poo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1143000"/>
            <a:ext cx="3474720" cy="1341404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pic>
      <p:pic>
        <p:nvPicPr>
          <p:cNvPr id="5" name="Image 1" descr="List of page-level problems found on the demo sit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2560320"/>
            <a:ext cx="3474720" cy="2208737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Screenshot review</a:t>
            </a:r>
            <a:endParaRPr lang="en-US" sz="3200" dirty="0"/>
          </a:p>
        </p:txBody>
      </p:sp>
      <p:pic>
        <p:nvPicPr>
          <p:cNvPr id="3" name="Image 0" descr="Screenshot of a sample login page with boxes drawn around each piece of text, coloured by severit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4579099" cy="3429000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pic>
      <p:sp>
        <p:nvSpPr>
          <p:cNvPr id="4" name="Text 1"/>
          <p:cNvSpPr txBox="1"/>
          <p:nvPr/>
        </p:nvSpPr>
        <p:spPr>
          <a:xfrm>
            <a:off x="5074920" y="1188720"/>
            <a:ext cx="36118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OCR finds each piece of text and where it is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Contrast is measured against its own background, with a suggested colour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Text size is estimated from the pixels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The words get the same language review as a website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Values are estimates; check surprises by eye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457200" y="1143000"/>
            <a:ext cx="1920240" cy="1143000"/>
          </a:xfrm>
          <a:prstGeom prst="roundRect">
            <a:avLst>
              <a:gd name="adj" fmla="val 6400"/>
            </a:avLst>
          </a:prstGeom>
          <a:solidFill>
            <a:schemeClr val="bg1"/>
          </a:solidFill>
          <a:ln w="9525">
            <a:solidFill>
              <a:srgbClr val="DDE3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457200" y="11887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830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rules: 31 text, 13 page, 3 screenshot</a:t>
            </a:r>
            <a:endParaRPr lang="en-US" sz="1200" dirty="0"/>
          </a:p>
        </p:txBody>
      </p:sp>
      <p:sp>
        <p:nvSpPr>
          <p:cNvPr id="6" name="Card"/>
          <p:cNvSpPr/>
          <p:nvPr/>
        </p:nvSpPr>
        <p:spPr>
          <a:xfrm>
            <a:off x="2542032" y="1143000"/>
            <a:ext cx="1920240" cy="1143000"/>
          </a:xfrm>
          <a:prstGeom prst="roundRect">
            <a:avLst>
              <a:gd name="adj" fmla="val 6400"/>
            </a:avLst>
          </a:prstGeom>
          <a:solidFill>
            <a:schemeClr val="bg1"/>
          </a:solidFill>
          <a:ln w="9525">
            <a:solidFill>
              <a:srgbClr val="DDE3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2542032" y="11887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2633472" y="17830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input modes</a:t>
            </a:r>
            <a:endParaRPr lang="en-US" sz="1200" dirty="0"/>
          </a:p>
        </p:txBody>
      </p:sp>
      <p:sp>
        <p:nvSpPr>
          <p:cNvPr id="9" name="Card"/>
          <p:cNvSpPr/>
          <p:nvPr/>
        </p:nvSpPr>
        <p:spPr>
          <a:xfrm>
            <a:off x="4626864" y="1143000"/>
            <a:ext cx="1920240" cy="1143000"/>
          </a:xfrm>
          <a:prstGeom prst="roundRect">
            <a:avLst>
              <a:gd name="adj" fmla="val 6400"/>
            </a:avLst>
          </a:prstGeom>
          <a:solidFill>
            <a:schemeClr val="bg1"/>
          </a:solidFill>
          <a:ln w="9525">
            <a:solidFill>
              <a:srgbClr val="DDE3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626864" y="11887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4718304" y="17830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automated tests, all passing</a:t>
            </a:r>
            <a:endParaRPr lang="en-US" sz="1200" dirty="0"/>
          </a:p>
        </p:txBody>
      </p:sp>
      <p:sp>
        <p:nvSpPr>
          <p:cNvPr id="12" name="Card"/>
          <p:cNvSpPr/>
          <p:nvPr/>
        </p:nvSpPr>
        <p:spPr>
          <a:xfrm>
            <a:off x="6711696" y="1143000"/>
            <a:ext cx="1920240" cy="1143000"/>
          </a:xfrm>
          <a:prstGeom prst="roundRect">
            <a:avLst>
              <a:gd name="adj" fmla="val 6400"/>
            </a:avLst>
          </a:prstGeom>
          <a:solidFill>
            <a:schemeClr val="bg1"/>
          </a:solidFill>
          <a:ln w="9525">
            <a:solidFill>
              <a:srgbClr val="DDE3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711696" y="11887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 → 100</a:t>
            </a:r>
            <a:endParaRPr lang="en-US" sz="3200" dirty="0"/>
          </a:p>
        </p:txBody>
      </p:sp>
      <p:sp>
        <p:nvSpPr>
          <p:cNvPr id="14" name="Text 12"/>
          <p:cNvSpPr txBox="1"/>
          <p:nvPr/>
        </p:nvSpPr>
        <p:spPr>
          <a:xfrm>
            <a:off x="6803136" y="17830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bad vs good demo site</a:t>
            </a:r>
            <a:endParaRPr lang="en-US" sz="1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514600"/>
          <a:ext cx="822960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005840"/>
                <a:gridCol w="1097280"/>
                <a:gridCol w="1188720"/>
                <a:gridCol w="914400"/>
                <a:gridCol w="137160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Overall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 score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Page checks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/ Med / Low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Well written demo site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/ 0 / 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Sample text set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/ 16 / 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Sample screenshot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9A5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/ 10 / 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JavaScript-built app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9A5B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/ 2 / 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Badly written demo site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/ 25 / 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Scoring and what it shows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Points lost per issue</a:t>
            </a:r>
            <a:endParaRPr lang="en-US" sz="1400" dirty="0"/>
          </a:p>
        </p:txBody>
      </p:sp>
      <p:sp>
        <p:nvSpPr>
          <p:cNvPr id="4" name="Card"/>
          <p:cNvSpPr/>
          <p:nvPr/>
        </p:nvSpPr>
        <p:spPr>
          <a:xfrm>
            <a:off x="457200" y="1554480"/>
            <a:ext cx="2651760" cy="73152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9525">
            <a:solidFill>
              <a:srgbClr val="DDE3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everity badge"/>
          <p:cNvSpPr/>
          <p:nvPr/>
        </p:nvSpPr>
        <p:spPr>
          <a:xfrm>
            <a:off x="594360" y="1664208"/>
            <a:ext cx="512064" cy="512064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6642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22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664208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High severity</a:t>
            </a:r>
            <a:endParaRPr lang="en-US" sz="1500" dirty="0"/>
          </a:p>
        </p:txBody>
      </p:sp>
      <p:sp>
        <p:nvSpPr>
          <p:cNvPr id="8" name="Card"/>
          <p:cNvSpPr/>
          <p:nvPr/>
        </p:nvSpPr>
        <p:spPr>
          <a:xfrm>
            <a:off x="457200" y="2423160"/>
            <a:ext cx="2651760" cy="73152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9525">
            <a:solidFill>
              <a:srgbClr val="DDE3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everity badge"/>
          <p:cNvSpPr/>
          <p:nvPr/>
        </p:nvSpPr>
        <p:spPr>
          <a:xfrm>
            <a:off x="594360" y="2532888"/>
            <a:ext cx="512064" cy="512064"/>
          </a:xfrm>
          <a:prstGeom prst="ellipse">
            <a:avLst/>
          </a:prstGeom>
          <a:solidFill>
            <a:srgbClr val="F2A33A"/>
          </a:solidFill>
          <a:ln w="12700">
            <a:solidFill>
              <a:srgbClr val="F2A33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25328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2532888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Medium severity</a:t>
            </a:r>
            <a:endParaRPr lang="en-US" sz="1500" dirty="0"/>
          </a:p>
        </p:txBody>
      </p:sp>
      <p:sp>
        <p:nvSpPr>
          <p:cNvPr id="12" name="Card"/>
          <p:cNvSpPr/>
          <p:nvPr/>
        </p:nvSpPr>
        <p:spPr>
          <a:xfrm>
            <a:off x="457200" y="3291840"/>
            <a:ext cx="2651760" cy="73152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9525">
            <a:solidFill>
              <a:srgbClr val="DDE3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everity badge"/>
          <p:cNvSpPr/>
          <p:nvPr/>
        </p:nvSpPr>
        <p:spPr>
          <a:xfrm>
            <a:off x="594360" y="3401568"/>
            <a:ext cx="512064" cy="512064"/>
          </a:xfrm>
          <a:prstGeom prst="ellipse">
            <a:avLst/>
          </a:prstGeom>
          <a:solidFill>
            <a:srgbClr val="5F6B7A"/>
          </a:solidFill>
          <a:ln w="12700">
            <a:solidFill>
              <a:srgbClr val="5F6B7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94360" y="34015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3401568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Low severity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41605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Each string starts at 100. Sites blend the text score 50:50 with page-level checks.</a:t>
            </a:r>
            <a:endParaRPr lang="en-US" sz="120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3383280" y="1143000"/>
          <a:ext cx="530352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and future scope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457200" y="1188720"/>
            <a:ext cx="4023360" cy="3337560"/>
          </a:xfrm>
          <a:prstGeom prst="roundRect">
            <a:avLst>
              <a:gd name="adj" fmla="val 2192"/>
            </a:avLst>
          </a:prstGeom>
          <a:solidFill>
            <a:schemeClr val="bg1"/>
          </a:solidFill>
          <a:ln w="9525">
            <a:solidFill>
              <a:srgbClr val="DDE3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Card"/>
          <p:cNvSpPr/>
          <p:nvPr/>
        </p:nvSpPr>
        <p:spPr>
          <a:xfrm>
            <a:off x="4663440" y="1188720"/>
            <a:ext cx="4023360" cy="3337560"/>
          </a:xfrm>
          <a:prstGeom prst="roundRect">
            <a:avLst>
              <a:gd name="adj" fmla="val 2192"/>
            </a:avLst>
          </a:prstGeom>
          <a:solidFill>
            <a:schemeClr val="tx2"/>
          </a:solidFill>
          <a:ln w="9525">
            <a:solidFill>
              <a:schemeClr val="tx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Icon circle"/>
          <p:cNvSpPr/>
          <p:nvPr/>
        </p:nvSpPr>
        <p:spPr>
          <a:xfrm>
            <a:off x="640080" y="1371600"/>
            <a:ext cx="457200" cy="457200"/>
          </a:xfrm>
          <a:prstGeom prst="ellipse">
            <a:avLst/>
          </a:prstGeom>
          <a:solidFill>
            <a:srgbClr val="0E8F8A"/>
          </a:solidFill>
          <a:ln w="12700">
            <a:solidFill>
              <a:srgbClr val="0E8F8A"/>
            </a:solidFill>
            <a:prstDash val="solid"/>
          </a:ln>
        </p:spPr>
      </p:sp>
      <p:pic>
        <p:nvPicPr>
          <p:cNvPr id="6" name="Image 0" descr="CheckCircle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" y="1485900"/>
            <a:ext cx="228600" cy="2286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34440" y="13716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What we achieved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011680"/>
            <a:ext cx="3657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 working reviewer for websites, screenshots and pasted text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Explainable rule-based NLP with fixes and rewrites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Handles JavaScript pages and measures contrast and size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Limits: rule-based, OCR is estimated, logins cannot be scanned</a:t>
            </a:r>
            <a:endParaRPr lang="en-US" sz="1400" dirty="0"/>
          </a:p>
        </p:txBody>
      </p:sp>
      <p:sp>
        <p:nvSpPr>
          <p:cNvPr id="9" name="Icon circle"/>
          <p:cNvSpPr/>
          <p:nvPr/>
        </p:nvSpPr>
        <p:spPr>
          <a:xfrm>
            <a:off x="4846320" y="1371600"/>
            <a:ext cx="457200" cy="457200"/>
          </a:xfrm>
          <a:prstGeom prst="ellipse">
            <a:avLst/>
          </a:prstGeom>
          <a:solidFill>
            <a:srgbClr val="F2A33A"/>
          </a:solidFill>
          <a:ln w="12700">
            <a:solidFill>
              <a:srgbClr val="F2A33A"/>
            </a:solidFill>
            <a:prstDash val="solid"/>
          </a:ln>
        </p:spPr>
      </p:sp>
      <p:pic>
        <p:nvPicPr>
          <p:cNvPr id="10" name="Image 1" descr="Rocket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0620" y="1485900"/>
            <a:ext cx="228600" cy="2286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440680" y="13716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Future scope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4846320" y="2011680"/>
            <a:ext cx="3657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Scan several pages of a site at once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Hindi and Marathi interface text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Machine-learning model for tone and fluency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Check contrast directly in page styles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Browser extension and design-tool plug-in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2860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5EC8C2"/>
                </a:solidFill>
              </a:rPr>
              <a:t>Questions?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474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5DEE8"/>
                </a:solidFill>
              </a:rPr>
              <a:t>Haripujan Prasad (2063)  ·  Soham Muley (2065)  ·  Ritika Paradkar (2066)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840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FB3C8"/>
                </a:solidFill>
              </a:rPr>
              <a:t>Guide: Prof. Mrs. K. P. Goswami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UI Text Reviewer">
  <a:themeElements>
    <a:clrScheme name="UI Text Reviewer">
      <a:dk1>
        <a:srgbClr val="1B2733"/>
      </a:dk1>
      <a:lt1>
        <a:srgbClr val="FFFFFF"/>
      </a:lt1>
      <a:dk2>
        <a:srgbClr val="0B1F3A"/>
      </a:dk2>
      <a:lt2>
        <a:srgbClr val="F2F5F8"/>
      </a:lt2>
      <a:accent1>
        <a:srgbClr val="0E8F8A"/>
      </a:accent1>
      <a:accent2>
        <a:srgbClr val="F2A33A"/>
      </a:accent2>
      <a:accent3>
        <a:srgbClr val="C0392B"/>
      </a:accent3>
      <a:accent4>
        <a:srgbClr val="2F6FDE"/>
      </a:accent4>
      <a:accent5>
        <a:srgbClr val="5F6B7A"/>
      </a:accent5>
      <a:accent6>
        <a:srgbClr val="2E9E5B"/>
      </a:accent6>
      <a:hlink>
        <a:srgbClr val="2F6FDE"/>
      </a:hlink>
      <a:folHlink>
        <a:srgbClr val="5F6B7A"/>
      </a:folHlink>
    </a:clrScheme>
    <a:fontScheme name="UI Text Reviewer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Pune Vidyarthi Griha’s College of Engineering, Technology and Management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UI Text Accessibility Reviewer</dc:title>
  <dc:subject>PptxGenJS Presentation</dc:subject>
  <dc:creator>Group G07</dc:creator>
  <cp:lastModifiedBy>Group G07</cp:lastModifiedBy>
  <cp:revision>1</cp:revision>
  <dcterms:created xsi:type="dcterms:W3CDTF">2026-10-16T05:24:08Z</dcterms:created>
  <dcterms:modified xsi:type="dcterms:W3CDTF">2026-10-16T05:24:08Z</dcterms:modified>
</cp:coreProperties>
</file>